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4"/>
  </p:notesMasterIdLst>
  <p:handoutMasterIdLst>
    <p:handoutMasterId r:id="rId25"/>
  </p:handoutMasterIdLst>
  <p:sldIdLst>
    <p:sldId id="308" r:id="rId3"/>
    <p:sldId id="258" r:id="rId4"/>
    <p:sldId id="315" r:id="rId5"/>
    <p:sldId id="312" r:id="rId6"/>
    <p:sldId id="309" r:id="rId7"/>
    <p:sldId id="310" r:id="rId8"/>
    <p:sldId id="311" r:id="rId9"/>
    <p:sldId id="313" r:id="rId10"/>
    <p:sldId id="316" r:id="rId11"/>
    <p:sldId id="317" r:id="rId12"/>
    <p:sldId id="318" r:id="rId13"/>
    <p:sldId id="321" r:id="rId14"/>
    <p:sldId id="319" r:id="rId15"/>
    <p:sldId id="320" r:id="rId16"/>
    <p:sldId id="322" r:id="rId17"/>
    <p:sldId id="327" r:id="rId18"/>
    <p:sldId id="328" r:id="rId19"/>
    <p:sldId id="323" r:id="rId20"/>
    <p:sldId id="324" r:id="rId21"/>
    <p:sldId id="325" r:id="rId22"/>
    <p:sldId id="32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mukutty" initials="A" lastIdx="1" clrIdx="0">
    <p:extLst>
      <p:ext uri="{19B8F6BF-5375-455C-9EA6-DF929625EA0E}">
        <p15:presenceInfo xmlns:p15="http://schemas.microsoft.com/office/powerpoint/2012/main" userId="Ammukutt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F2C7"/>
    <a:srgbClr val="7FA6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5" d="100"/>
          <a:sy n="65" d="100"/>
        </p:scale>
        <p:origin x="3154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7813DC-F659-4230-9307-DE71CDD05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2AE0D0-A4FC-46AE-8881-74A0AE0496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4000F-AB39-431E-A56E-156AF83B1256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7D019-090B-40C9-8269-EFE2DA4018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https://visionboard.graphy.com                     visionboardt1@gmail.com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632B9-FA1B-4F6E-9E48-D77A5B609E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D51B6-DF69-4C62-97A7-9F9D15423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96658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DEBF43-7D45-4DC5-875F-6592C158C48B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https://visionboard.graphy.com                     visionboardt1@gmail.com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30EB79-3F30-4808-99C0-23591EB4AC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3923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9100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9631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124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732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visionboard.graphy.com|visionboardt1@gmail.com" TargetMode="External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DE583D4-6DB0-4B83-A1CE-2BBB018C131B}"/>
              </a:ext>
            </a:extLst>
          </p:cNvPr>
          <p:cNvSpPr/>
          <p:nvPr userDrawn="1"/>
        </p:nvSpPr>
        <p:spPr>
          <a:xfrm>
            <a:off x="35508" y="655617"/>
            <a:ext cx="9055224" cy="4571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15746C-21DA-41B9-9B97-0990C28FA70E}"/>
              </a:ext>
            </a:extLst>
          </p:cNvPr>
          <p:cNvSpPr/>
          <p:nvPr userDrawn="1"/>
        </p:nvSpPr>
        <p:spPr>
          <a:xfrm>
            <a:off x="54743" y="6301651"/>
            <a:ext cx="9035989" cy="4571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CB22C6-BC66-4902-9A2D-9A50B03D7369}"/>
              </a:ext>
            </a:extLst>
          </p:cNvPr>
          <p:cNvSpPr txBox="1"/>
          <p:nvPr userDrawn="1"/>
        </p:nvSpPr>
        <p:spPr>
          <a:xfrm>
            <a:off x="4382293" y="6517114"/>
            <a:ext cx="4536491" cy="246221"/>
          </a:xfrm>
          <a:prstGeom prst="rect">
            <a:avLst/>
          </a:prstGeom>
          <a:noFill/>
          <a:ln cap="rnd" cmpd="thickThin">
            <a:noFill/>
            <a:prstDash val="lgDash"/>
            <a:beve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dirty="0" err="1">
                <a:solidFill>
                  <a:srgbClr val="002060"/>
                </a:solidFill>
              </a:rPr>
              <a:t>VisionBoard</a:t>
            </a:r>
            <a:r>
              <a:rPr lang="en-US" sz="1000" dirty="0"/>
              <a:t> | </a:t>
            </a:r>
            <a:r>
              <a:rPr lang="en-US" sz="1000" dirty="0">
                <a:hlinkClick r:id="rId2"/>
              </a:rPr>
              <a:t>www.visionboard.graphy.com|visionboardt1@gmail.com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DB703F7-5FEF-4599-84BA-E90F362CF8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/>
          </a:blip>
          <a:stretch>
            <a:fillRect/>
          </a:stretch>
        </p:blipFill>
        <p:spPr>
          <a:xfrm>
            <a:off x="8485388" y="17025"/>
            <a:ext cx="649550" cy="591519"/>
          </a:xfrm>
          <a:prstGeom prst="rect">
            <a:avLst/>
          </a:prstGeom>
          <a:blipFill dpi="0" rotWithShape="1">
            <a:blip r:embed="rId4">
              <a:alphaModFix amt="95000"/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a:blipFill>
          <a:effectLst>
            <a:outerShdw blurRad="50800" dir="5400000" algn="ctr" rotWithShape="0">
              <a:schemeClr val="tx2">
                <a:lumMod val="40000"/>
                <a:lumOff val="60000"/>
                <a:alpha val="43000"/>
              </a:schemeClr>
            </a:outerShdw>
            <a:softEdge rad="114300"/>
          </a:effec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297F2-89A2-40B3-B9C3-4AABE0AAD1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9713" y="82550"/>
            <a:ext cx="8201469" cy="473075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278852B-C018-4615-8AF8-7A8CEB634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836" y="6498359"/>
            <a:ext cx="343896" cy="28373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AED2C9-E487-47CE-A946-5DEC868C1AA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CrisscrossEtching trans="42000" pressure="0"/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bright="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272" y="708536"/>
            <a:ext cx="9099430" cy="55743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2980A-7A74-4B89-A7AC-3904323097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9BCDB-E3F3-471F-9E73-34FF61A57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2B9D6-50CE-41DD-8B7F-3251DF39F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019E0-41D6-41E2-9A74-30CE5BE4B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A96F3-51C8-4C9A-9416-BB82BE9DF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155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7BC00-99A1-4520-B48F-F1C489A6A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9C1E1-495C-4148-997A-D3D381749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8AF18-68C2-4A22-A06C-52096FB1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3299F-C6B4-40E0-9C7A-36CFD5E9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A8514-C0E5-448C-8726-0B39847F9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800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B8EA9-A592-4479-86DA-B417BDAAF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44DE-BD0E-49E7-9EDD-546406A58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6E088-A0BC-4830-BEC3-569FB30AE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1237-C706-4AFC-8BBA-4CE13BAD1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A0171-BB35-4EB1-9DEF-757FAFDA2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416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1B48B-6CC5-4980-A037-6FC625044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562F2-9E9E-4AA0-B1E6-E0484C9162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555A2-1FA4-4A95-BFBC-9948DE797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19BBC-E5A2-4F3E-BC31-881DC0918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DB451-7AA0-4BB2-A3AA-91510F34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20698-8D41-437D-836C-18C745A35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726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6E315-ED38-4EA2-8AC0-267E64116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C0D76-558C-4DF3-BBAC-FFD9DCE30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205962-FADC-451D-8A0A-2EE56275C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5F445A-66F8-4D4A-940C-8C55C9A8F4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C9D7ED-1ACD-47EF-B7EB-077691A94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155D79-C681-4098-BC89-267A4850C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62D21B-C73D-4C84-A123-0548A4BC5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E41FA3-D572-4A67-BC70-974216911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575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3A0FA-AC0B-4425-B3FA-37E5E7857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BC21CB-F2AD-405C-AB7A-A5B394D3F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327D1-4A27-49ED-A943-1E3B3AEB7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1F70E6-122F-49AE-AD57-B7526F121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9944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393B5C-4281-4AD0-BDA6-CA86B784F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214B4E-0FB6-47C1-A473-121FF3310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B57BC-6C05-48E6-B1E2-36D9ED21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261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BC43-5F06-4A97-861B-C7B319A10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4CC89-34FC-48AF-AFCA-2670224DE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4C5A5-D6BD-46C0-B807-3728B3E68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4553D-8AE2-470B-AC2C-AAC6D2C57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39AE9-9C3B-4A30-84A5-EEC99B916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465E2-3033-4C08-AF33-4DD070141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4830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3A23-7A81-495B-9B65-2CA370220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6E3CB-4633-4B59-9114-E33DAFBDAF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23693F-F2F5-45A1-BD11-D16390EB1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7B512-1CF4-44E7-B780-C2732603A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59C5D-D0B9-45DA-AABA-A37854067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0AD27-A07D-4F39-8820-AE6D062C3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8983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B128C-D163-4671-B15C-88B6A3AA4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3D2A4-9243-42B0-B488-B854C0A34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1BF57-3800-4DBD-941D-A6689D623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4BF3A-2994-48E3-B10D-5ABBB767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BD447-F68C-4861-8266-C3F3CF74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1141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0488F-CE18-4459-BFA7-B4F18DC9F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A03DD-66BC-47D5-B517-2E598AACA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30E70-BA38-409E-B40E-472C5092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277E9-9622-4513-9008-99AB3D029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46287-453D-481A-828C-F5DB291F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49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Azure E-commerce Data Integration (ETL) POC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413152-46E9-45F3-84F0-FB568A2CE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FAEDC-86EE-4F3C-AB7A-1E396149F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F10C6-B6DA-40A6-A649-E589FD5BA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E2317-5922-4D17-8848-F62A51734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F1B06-8084-4875-807C-FBC56122D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3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oleObject" Target="../embeddings/oleObject5.bin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e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7.emf"/><Relationship Id="rId4" Type="http://schemas.openxmlformats.org/officeDocument/2006/relationships/image" Target="../media/image10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B65990B-9CCB-4936-A78B-09C6CFEC51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200"/>
                    </a14:imgEffect>
                    <a14:imgEffect>
                      <a14:saturation sat="9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36436" y="1108363"/>
            <a:ext cx="5634182" cy="4727304"/>
          </a:xfrm>
          <a:prstGeom prst="rect">
            <a:avLst/>
          </a:prstGeom>
          <a:gradFill>
            <a:gsLst>
              <a:gs pos="100000">
                <a:schemeClr val="bg1">
                  <a:lumMod val="85000"/>
                </a:schemeClr>
              </a:gs>
              <a:gs pos="0">
                <a:schemeClr val="accent5">
                  <a:lumMod val="5000"/>
                  <a:lumOff val="95000"/>
                </a:schemeClr>
              </a:gs>
              <a:gs pos="100000">
                <a:schemeClr val="bg1">
                  <a:lumMod val="85000"/>
                </a:schemeClr>
              </a:gs>
              <a:gs pos="100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B4DE30-C3B0-4DAE-95E1-76799AE4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6EEB32-6005-4259-8819-29E6FA510B72}"/>
              </a:ext>
            </a:extLst>
          </p:cNvPr>
          <p:cNvSpPr/>
          <p:nvPr/>
        </p:nvSpPr>
        <p:spPr>
          <a:xfrm>
            <a:off x="-121083" y="-33489"/>
            <a:ext cx="870065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Bahnschrift SemiBold" panose="020B050204020402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Real-Time Data Migration Pipeline</a:t>
            </a:r>
            <a:endParaRPr lang="en-IN" sz="3200" dirty="0">
              <a:solidFill>
                <a:srgbClr val="002060"/>
              </a:solidFill>
              <a:latin typeface="Bahnschrift SemiBold" panose="020B05020402040202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799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5EC823D4-7093-4BD9-9409-5E4566835F85}"/>
              </a:ext>
            </a:extLst>
          </p:cNvPr>
          <p:cNvSpPr txBox="1"/>
          <p:nvPr/>
        </p:nvSpPr>
        <p:spPr>
          <a:xfrm>
            <a:off x="181081" y="69947"/>
            <a:ext cx="3149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B4DE30-C3B0-4DAE-95E1-76799AE4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89E4135-672D-478C-AB03-048D6858B1BA}"/>
              </a:ext>
            </a:extLst>
          </p:cNvPr>
          <p:cNvSpPr txBox="1">
            <a:spLocks/>
          </p:cNvSpPr>
          <p:nvPr/>
        </p:nvSpPr>
        <p:spPr>
          <a:xfrm>
            <a:off x="517236" y="1627911"/>
            <a:ext cx="8229600" cy="36460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+mj-lt"/>
                <a:cs typeface="Calibri" panose="020F0502020204030204" pitchFamily="34" charset="0"/>
              </a:rPr>
              <a:t>Modern organizations generate large volumes of operational data in on-premise systems. To enable scalable analytics and reporting, this data must be efficiently migrated to the cloud.</a:t>
            </a:r>
          </a:p>
          <a:p>
            <a:pPr marL="0" indent="0">
              <a:buNone/>
            </a:pPr>
            <a:endParaRPr lang="en-US" sz="2000" b="1" dirty="0">
              <a:latin typeface="+mj-lt"/>
              <a:cs typeface="Calibri" panose="020F0502020204030204" pitchFamily="34" charset="0"/>
            </a:endParaRPr>
          </a:p>
          <a:p>
            <a:r>
              <a:rPr lang="en-US" sz="2000" b="1" dirty="0">
                <a:latin typeface="+mj-lt"/>
                <a:cs typeface="Calibri" panose="020F0502020204030204" pitchFamily="34" charset="0"/>
              </a:rPr>
              <a:t>This project demonstrates an end-to-end data engineering pipeline that extracts data from an On-Premise SQL Server, processes it using Azure Data Factory, and stores it in Azure Data Lake Storage Gen2. The pipeline implements a metadata-driven incremental loading strategy using a watermark table, ensuring that only new or updated records are processed.</a:t>
            </a:r>
          </a:p>
          <a:p>
            <a:pPr marL="0" indent="0">
              <a:buNone/>
            </a:pPr>
            <a:endParaRPr lang="en-US" sz="2000" b="1" dirty="0">
              <a:latin typeface="+mj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496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C8B853-12BD-48F6-9F42-2767C6E2AC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Project Architecture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927E6F-2D80-4238-A41D-1B88EE29F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B3F80DA-F1F0-43EF-A91D-F6103E33498B}"/>
              </a:ext>
            </a:extLst>
          </p:cNvPr>
          <p:cNvSpPr/>
          <p:nvPr/>
        </p:nvSpPr>
        <p:spPr>
          <a:xfrm>
            <a:off x="1987106" y="2661181"/>
            <a:ext cx="4599709" cy="38792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6">
                    <a:lumMod val="50000"/>
                  </a:schemeClr>
                </a:solidFill>
              </a:rPr>
              <a:t>Child Pipeline (Incremental Logic)</a:t>
            </a:r>
            <a:endParaRPr lang="en-IN" sz="11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51EE0A9-B6C1-4084-B32E-5B75CF9F9391}"/>
              </a:ext>
            </a:extLst>
          </p:cNvPr>
          <p:cNvSpPr/>
          <p:nvPr/>
        </p:nvSpPr>
        <p:spPr>
          <a:xfrm>
            <a:off x="6137562" y="1819617"/>
            <a:ext cx="1625600" cy="38792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Execute Child Pipeline (Incremental Load) </a:t>
            </a:r>
            <a:endParaRPr lang="en-IN" sz="9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ACDFC1D-7BE0-442A-82DA-C67774FE6E8D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2799906" y="2013932"/>
            <a:ext cx="6314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51E2AC-0B38-49B9-B645-3F7388872240}"/>
              </a:ext>
            </a:extLst>
          </p:cNvPr>
          <p:cNvSpPr/>
          <p:nvPr/>
        </p:nvSpPr>
        <p:spPr>
          <a:xfrm>
            <a:off x="1174306" y="1819968"/>
            <a:ext cx="1625600" cy="38792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 Lookup: Watermark Table (</a:t>
            </a:r>
            <a:r>
              <a:rPr lang="en-US" sz="900" dirty="0" err="1">
                <a:solidFill>
                  <a:schemeClr val="accent6">
                    <a:lumMod val="50000"/>
                  </a:schemeClr>
                </a:solidFill>
              </a:rPr>
              <a:t>ADF_Watermark_Table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lang="en-IN" sz="9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4AF3A3A-1785-46B2-A469-D5EF29669F1C}"/>
              </a:ext>
            </a:extLst>
          </p:cNvPr>
          <p:cNvSpPr/>
          <p:nvPr/>
        </p:nvSpPr>
        <p:spPr>
          <a:xfrm>
            <a:off x="3431307" y="1819968"/>
            <a:ext cx="1625600" cy="38792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 err="1">
                <a:solidFill>
                  <a:schemeClr val="accent6">
                    <a:lumMod val="50000"/>
                  </a:schemeClr>
                </a:solidFill>
              </a:rPr>
              <a:t>ForEach</a:t>
            </a:r>
            <a:r>
              <a:rPr lang="en-IN" sz="900" dirty="0">
                <a:solidFill>
                  <a:schemeClr val="accent6">
                    <a:lumMod val="50000"/>
                  </a:schemeClr>
                </a:solidFill>
              </a:rPr>
              <a:t> (Each Table)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8EBA9FD-B484-48A9-A98E-24932D8D0749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5056907" y="2013581"/>
            <a:ext cx="1080655" cy="3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2DD742CB-0048-4610-9AF7-ABDAC2AE001D}"/>
              </a:ext>
            </a:extLst>
          </p:cNvPr>
          <p:cNvSpPr/>
          <p:nvPr/>
        </p:nvSpPr>
        <p:spPr>
          <a:xfrm>
            <a:off x="7293184" y="3595220"/>
            <a:ext cx="1625600" cy="38792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 Execute SP Pipeline</a:t>
            </a:r>
          </a:p>
          <a:p>
            <a:pPr algn="ctr"/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(Update Watermark) </a:t>
            </a:r>
            <a:endParaRPr lang="en-IN" sz="9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E25BE22-CC90-4CEA-8560-F228B5D455E3}"/>
              </a:ext>
            </a:extLst>
          </p:cNvPr>
          <p:cNvCxnSpPr>
            <a:cxnSpLocks/>
            <a:stCxn id="71" idx="3"/>
            <a:endCxn id="72" idx="1"/>
          </p:cNvCxnSpPr>
          <p:nvPr/>
        </p:nvCxnSpPr>
        <p:spPr>
          <a:xfrm>
            <a:off x="4822026" y="3789185"/>
            <a:ext cx="3140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F5F4A9E1-1AA2-46CA-AEFA-B4CD8282137B}"/>
              </a:ext>
            </a:extLst>
          </p:cNvPr>
          <p:cNvSpPr/>
          <p:nvPr/>
        </p:nvSpPr>
        <p:spPr>
          <a:xfrm>
            <a:off x="308772" y="3552647"/>
            <a:ext cx="2037264" cy="47307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 Lookup: MAX(</a:t>
            </a:r>
            <a:r>
              <a:rPr lang="en-US" sz="900" dirty="0" err="1">
                <a:solidFill>
                  <a:schemeClr val="accent6">
                    <a:lumMod val="50000"/>
                  </a:schemeClr>
                </a:solidFill>
              </a:rPr>
              <a:t>WatermarkColumn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  <a:p>
            <a:pPr algn="ctr"/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 from Source Table </a:t>
            </a:r>
            <a:endParaRPr lang="en-IN" sz="9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A287635D-04D1-435B-84C8-9B3AEA43A517}"/>
              </a:ext>
            </a:extLst>
          </p:cNvPr>
          <p:cNvSpPr/>
          <p:nvPr/>
        </p:nvSpPr>
        <p:spPr>
          <a:xfrm>
            <a:off x="2855324" y="3446431"/>
            <a:ext cx="1966702" cy="68550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IF Condition </a:t>
            </a:r>
          </a:p>
          <a:p>
            <a:pPr algn="ctr"/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New Data Exists? </a:t>
            </a:r>
          </a:p>
          <a:p>
            <a:pPr algn="ctr"/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(NULL OR MAX &gt; </a:t>
            </a:r>
            <a:r>
              <a:rPr lang="en-US" sz="900" dirty="0" err="1">
                <a:solidFill>
                  <a:schemeClr val="accent6">
                    <a:lumMod val="50000"/>
                  </a:schemeClr>
                </a:solidFill>
              </a:rPr>
              <a:t>LastLoad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lang="en-IN" sz="9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A443128A-77CA-4E8D-B6BC-C8D84CB04D09}"/>
              </a:ext>
            </a:extLst>
          </p:cNvPr>
          <p:cNvSpPr/>
          <p:nvPr/>
        </p:nvSpPr>
        <p:spPr>
          <a:xfrm>
            <a:off x="5136063" y="3518642"/>
            <a:ext cx="1777356" cy="54108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accent6">
                    <a:lumMod val="50000"/>
                  </a:schemeClr>
                </a:solidFill>
              </a:rPr>
              <a:t>Copy Activity </a:t>
            </a:r>
          </a:p>
          <a:p>
            <a:pPr algn="ctr"/>
            <a:r>
              <a:rPr lang="en-IN" sz="900" dirty="0">
                <a:solidFill>
                  <a:schemeClr val="accent6">
                    <a:lumMod val="50000"/>
                  </a:schemeClr>
                </a:solidFill>
              </a:rPr>
              <a:t>(Full / Incremental Load) </a:t>
            </a:r>
          </a:p>
          <a:p>
            <a:pPr algn="ctr"/>
            <a:r>
              <a:rPr lang="en-IN" sz="900" dirty="0">
                <a:solidFill>
                  <a:schemeClr val="accent6">
                    <a:lumMod val="50000"/>
                  </a:schemeClr>
                </a:solidFill>
              </a:rPr>
              <a:t>SQL → Parquet (ADLS)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FB3619C-6D49-40B9-BF64-17AA3E75365B}"/>
              </a:ext>
            </a:extLst>
          </p:cNvPr>
          <p:cNvCxnSpPr>
            <a:cxnSpLocks/>
            <a:stCxn id="70" idx="3"/>
            <a:endCxn id="71" idx="1"/>
          </p:cNvCxnSpPr>
          <p:nvPr/>
        </p:nvCxnSpPr>
        <p:spPr>
          <a:xfrm>
            <a:off x="2346036" y="3789185"/>
            <a:ext cx="5092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87F6FDE-397C-45A1-9469-46CA0BC7ADDC}"/>
              </a:ext>
            </a:extLst>
          </p:cNvPr>
          <p:cNvCxnSpPr>
            <a:cxnSpLocks/>
            <a:stCxn id="72" idx="3"/>
            <a:endCxn id="68" idx="1"/>
          </p:cNvCxnSpPr>
          <p:nvPr/>
        </p:nvCxnSpPr>
        <p:spPr>
          <a:xfrm flipV="1">
            <a:off x="6913419" y="3789184"/>
            <a:ext cx="37976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D0E43F76-49B5-43AC-9308-0428828105A4}"/>
              </a:ext>
            </a:extLst>
          </p:cNvPr>
          <p:cNvCxnSpPr>
            <a:stCxn id="12" idx="2"/>
            <a:endCxn id="48" idx="3"/>
          </p:cNvCxnSpPr>
          <p:nvPr/>
        </p:nvCxnSpPr>
        <p:spPr>
          <a:xfrm rot="5400000">
            <a:off x="6444789" y="2349572"/>
            <a:ext cx="647600" cy="363547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F6913253-E04D-43AA-A9C8-E2B60CFB409B}"/>
              </a:ext>
            </a:extLst>
          </p:cNvPr>
          <p:cNvCxnSpPr>
            <a:stCxn id="48" idx="1"/>
            <a:endCxn id="70" idx="0"/>
          </p:cNvCxnSpPr>
          <p:nvPr/>
        </p:nvCxnSpPr>
        <p:spPr>
          <a:xfrm rot="10800000" flipV="1">
            <a:off x="1327404" y="2855145"/>
            <a:ext cx="659702" cy="697502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5CFDC8FC-3E4C-47E3-B94B-C1A5CEF6D4EE}"/>
              </a:ext>
            </a:extLst>
          </p:cNvPr>
          <p:cNvSpPr/>
          <p:nvPr/>
        </p:nvSpPr>
        <p:spPr>
          <a:xfrm>
            <a:off x="2197610" y="4500067"/>
            <a:ext cx="4599709" cy="38792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 dirty="0">
                <a:solidFill>
                  <a:schemeClr val="accent6">
                    <a:lumMod val="50000"/>
                  </a:schemeClr>
                </a:solidFill>
              </a:rPr>
              <a:t>Child Pipeline (Stored Procedure)</a:t>
            </a:r>
          </a:p>
        </p:txBody>
      </p: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606EF1D2-22BF-438F-9209-8F958AE492C1}"/>
              </a:ext>
            </a:extLst>
          </p:cNvPr>
          <p:cNvCxnSpPr>
            <a:stCxn id="68" idx="2"/>
            <a:endCxn id="125" idx="3"/>
          </p:cNvCxnSpPr>
          <p:nvPr/>
        </p:nvCxnSpPr>
        <p:spPr>
          <a:xfrm rot="5400000">
            <a:off x="7096211" y="3684257"/>
            <a:ext cx="710883" cy="1308665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1254C70A-0024-4458-8CB5-3D0B4D81EE24}"/>
              </a:ext>
            </a:extLst>
          </p:cNvPr>
          <p:cNvSpPr/>
          <p:nvPr/>
        </p:nvSpPr>
        <p:spPr>
          <a:xfrm>
            <a:off x="4117431" y="5439824"/>
            <a:ext cx="2037264" cy="68554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Stored Procedure</a:t>
            </a:r>
          </a:p>
          <a:p>
            <a:pPr algn="ctr"/>
            <a:r>
              <a:rPr lang="en-US" sz="900" dirty="0" err="1">
                <a:solidFill>
                  <a:schemeClr val="accent6">
                    <a:lumMod val="50000"/>
                  </a:schemeClr>
                </a:solidFill>
              </a:rPr>
              <a:t>dbo.UpdateWatermark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                   (Update </a:t>
            </a:r>
            <a:r>
              <a:rPr lang="en-US" sz="900" dirty="0" err="1">
                <a:solidFill>
                  <a:schemeClr val="accent6">
                    <a:lumMod val="50000"/>
                  </a:schemeClr>
                </a:solidFill>
              </a:rPr>
              <a:t>LastLoadValue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) </a:t>
            </a:r>
            <a:endParaRPr lang="en-IN" sz="9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6700ECFF-17BE-4C87-872B-A1D3BED1300B}"/>
              </a:ext>
            </a:extLst>
          </p:cNvPr>
          <p:cNvSpPr/>
          <p:nvPr/>
        </p:nvSpPr>
        <p:spPr>
          <a:xfrm>
            <a:off x="935606" y="876874"/>
            <a:ext cx="6363649" cy="38792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6">
                    <a:lumMod val="50000"/>
                  </a:schemeClr>
                </a:solidFill>
              </a:rPr>
              <a:t>Parent Pipeline (Orchestration Layer)</a:t>
            </a:r>
          </a:p>
        </p:txBody>
      </p: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2BB0B27B-9694-4ACB-8DF9-C417D9333C60}"/>
              </a:ext>
            </a:extLst>
          </p:cNvPr>
          <p:cNvCxnSpPr>
            <a:cxnSpLocks/>
            <a:stCxn id="125" idx="2"/>
            <a:endCxn id="128" idx="0"/>
          </p:cNvCxnSpPr>
          <p:nvPr/>
        </p:nvCxnSpPr>
        <p:spPr>
          <a:xfrm rot="16200000" flipH="1">
            <a:off x="4540850" y="4844610"/>
            <a:ext cx="551829" cy="63859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FB7B4F37-A907-4C1F-B47D-24804B81CA86}"/>
              </a:ext>
            </a:extLst>
          </p:cNvPr>
          <p:cNvCxnSpPr>
            <a:cxnSpLocks/>
            <a:stCxn id="131" idx="2"/>
            <a:endCxn id="10" idx="0"/>
          </p:cNvCxnSpPr>
          <p:nvPr/>
        </p:nvCxnSpPr>
        <p:spPr>
          <a:xfrm rot="5400000">
            <a:off x="2774686" y="477223"/>
            <a:ext cx="555166" cy="213032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49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05F515-8AFC-486C-B1F6-5C367F629E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Data Warehouse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2ABF52-680E-4268-B2AF-97C55CFDF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EE1DDF-5601-49AF-ADE4-A99A7220E03C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049491" cy="3156527"/>
          </a:xfrm>
          <a:prstGeom prst="rect">
            <a:avLst/>
          </a:prstGeom>
        </p:spPr>
        <p:txBody>
          <a:bodyPr/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Star Schema used for analytics</a:t>
            </a:r>
          </a:p>
          <a:p>
            <a:r>
              <a:rPr lang="en-IN" b="1" dirty="0"/>
              <a:t>Dimension Tables: </a:t>
            </a:r>
            <a:r>
              <a:rPr lang="en-IN" b="1" dirty="0" err="1"/>
              <a:t>DimCustomer</a:t>
            </a:r>
            <a:r>
              <a:rPr lang="en-IN" b="1" dirty="0"/>
              <a:t>, </a:t>
            </a:r>
            <a:r>
              <a:rPr lang="en-IN" b="1" dirty="0" err="1"/>
              <a:t>DimProduct</a:t>
            </a:r>
            <a:r>
              <a:rPr lang="en-IN" b="1" dirty="0"/>
              <a:t>, </a:t>
            </a:r>
            <a:r>
              <a:rPr lang="en-IN" b="1" dirty="0" err="1"/>
              <a:t>DimDate</a:t>
            </a:r>
            <a:r>
              <a:rPr lang="en-IN" b="1" dirty="0"/>
              <a:t>, </a:t>
            </a:r>
            <a:r>
              <a:rPr lang="en-IN" b="1" dirty="0" err="1"/>
              <a:t>DimRegion</a:t>
            </a:r>
            <a:r>
              <a:rPr lang="en-IN" b="1" dirty="0"/>
              <a:t>, </a:t>
            </a:r>
            <a:r>
              <a:rPr lang="en-IN" b="1" dirty="0" err="1"/>
              <a:t>DimStore</a:t>
            </a:r>
            <a:r>
              <a:rPr lang="en-IN" b="1" dirty="0"/>
              <a:t> etc.,,,</a:t>
            </a:r>
          </a:p>
          <a:p>
            <a:r>
              <a:rPr lang="en-IN" b="1" dirty="0"/>
              <a:t>Fact Tables: </a:t>
            </a:r>
            <a:r>
              <a:rPr lang="en-IN" b="1" dirty="0" err="1"/>
              <a:t>FactSales</a:t>
            </a:r>
            <a:r>
              <a:rPr lang="en-IN" b="1" dirty="0"/>
              <a:t>, </a:t>
            </a:r>
            <a:r>
              <a:rPr lang="en-IN" b="1" dirty="0" err="1"/>
              <a:t>FactOrders</a:t>
            </a:r>
            <a:r>
              <a:rPr lang="en-IN" b="1" dirty="0"/>
              <a:t>, </a:t>
            </a:r>
            <a:r>
              <a:rPr lang="en-IN" b="1" dirty="0" err="1"/>
              <a:t>FactPayments</a:t>
            </a:r>
            <a:r>
              <a:rPr lang="en-IN" b="1" dirty="0"/>
              <a:t>, </a:t>
            </a:r>
            <a:r>
              <a:rPr lang="en-IN" b="1" dirty="0" err="1"/>
              <a:t>FactReturns</a:t>
            </a:r>
            <a:r>
              <a:rPr lang="en-IN" b="1" dirty="0"/>
              <a:t> etc.,,</a:t>
            </a:r>
          </a:p>
          <a:p>
            <a:r>
              <a:rPr lang="en-IN" b="1" dirty="0"/>
              <a:t>Optimized for reporting and BI queries</a:t>
            </a:r>
          </a:p>
        </p:txBody>
      </p:sp>
    </p:spTree>
    <p:extLst>
      <p:ext uri="{BB962C8B-B14F-4D97-AF65-F5344CB8AC3E}">
        <p14:creationId xmlns:p14="http://schemas.microsoft.com/office/powerpoint/2010/main" val="1904721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5EC823D4-7093-4BD9-9409-5E4566835F85}"/>
              </a:ext>
            </a:extLst>
          </p:cNvPr>
          <p:cNvSpPr txBox="1"/>
          <p:nvPr/>
        </p:nvSpPr>
        <p:spPr>
          <a:xfrm>
            <a:off x="236499" y="64655"/>
            <a:ext cx="78268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</a:t>
            </a:r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ATAWAREHOUSE - CONFIGURATIONS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B4DE30-C3B0-4DAE-95E1-76799AE4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D308BA-A97A-4937-AE7A-31F68C171F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99" y="878813"/>
            <a:ext cx="2370219" cy="46135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2D8F69D1-7BF2-4918-9ADE-DE174932D62E}"/>
              </a:ext>
            </a:extLst>
          </p:cNvPr>
          <p:cNvSpPr/>
          <p:nvPr/>
        </p:nvSpPr>
        <p:spPr>
          <a:xfrm>
            <a:off x="1818864" y="1870367"/>
            <a:ext cx="396701" cy="115916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E7E72967-1624-44CD-BC47-53F64E7D66A7}"/>
              </a:ext>
            </a:extLst>
          </p:cNvPr>
          <p:cNvSpPr/>
          <p:nvPr/>
        </p:nvSpPr>
        <p:spPr>
          <a:xfrm>
            <a:off x="2006815" y="3130179"/>
            <a:ext cx="396701" cy="115916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Callout: Line 4">
            <a:extLst>
              <a:ext uri="{FF2B5EF4-FFF2-40B4-BE49-F238E27FC236}">
                <a16:creationId xmlns:a16="http://schemas.microsoft.com/office/drawing/2014/main" id="{11DBCD51-0638-44BC-851F-502A56E89A2A}"/>
              </a:ext>
            </a:extLst>
          </p:cNvPr>
          <p:cNvSpPr/>
          <p:nvPr/>
        </p:nvSpPr>
        <p:spPr>
          <a:xfrm>
            <a:off x="2661164" y="2111222"/>
            <a:ext cx="1219201" cy="274771"/>
          </a:xfrm>
          <a:prstGeom prst="borderCallout1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0000"/>
                </a:solidFill>
              </a:rPr>
              <a:t>Dimension tables</a:t>
            </a:r>
            <a:endParaRPr lang="en-IN" sz="1000" dirty="0">
              <a:solidFill>
                <a:srgbClr val="FF0000"/>
              </a:solidFill>
            </a:endParaRPr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85EDBA5E-E7D7-4213-B488-BE4CCC527395}"/>
              </a:ext>
            </a:extLst>
          </p:cNvPr>
          <p:cNvSpPr/>
          <p:nvPr/>
        </p:nvSpPr>
        <p:spPr>
          <a:xfrm>
            <a:off x="2700243" y="3398059"/>
            <a:ext cx="932874" cy="274771"/>
          </a:xfrm>
          <a:prstGeom prst="borderCallout1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0000"/>
                </a:solidFill>
              </a:rPr>
              <a:t>Fact tables</a:t>
            </a:r>
            <a:endParaRPr lang="en-IN" sz="1000" dirty="0">
              <a:solidFill>
                <a:srgbClr val="FF0000"/>
              </a:solidFill>
            </a:endParaRP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205C2F39-FF95-44F6-9518-2540815FBAB2}"/>
              </a:ext>
            </a:extLst>
          </p:cNvPr>
          <p:cNvSpPr/>
          <p:nvPr/>
        </p:nvSpPr>
        <p:spPr>
          <a:xfrm>
            <a:off x="2661164" y="1393076"/>
            <a:ext cx="1219201" cy="274771"/>
          </a:xfrm>
          <a:prstGeom prst="borderCallout1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0000"/>
                </a:solidFill>
              </a:rPr>
              <a:t>Watermark Table</a:t>
            </a:r>
            <a:endParaRPr lang="en-IN" sz="1000" dirty="0">
              <a:solidFill>
                <a:srgbClr val="FF0000"/>
              </a:solidFill>
            </a:endParaRPr>
          </a:p>
        </p:txBody>
      </p:sp>
      <p:sp>
        <p:nvSpPr>
          <p:cNvPr id="10" name="Callout: Line 9">
            <a:extLst>
              <a:ext uri="{FF2B5EF4-FFF2-40B4-BE49-F238E27FC236}">
                <a16:creationId xmlns:a16="http://schemas.microsoft.com/office/drawing/2014/main" id="{10B16A2F-A235-47BF-AE24-80B24257FCD6}"/>
              </a:ext>
            </a:extLst>
          </p:cNvPr>
          <p:cNvSpPr/>
          <p:nvPr/>
        </p:nvSpPr>
        <p:spPr>
          <a:xfrm>
            <a:off x="2661164" y="4749130"/>
            <a:ext cx="1631612" cy="515877"/>
          </a:xfrm>
          <a:prstGeom prst="borderCallout1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0000"/>
                </a:solidFill>
              </a:rPr>
              <a:t>Store Procedure Update Watermark Table</a:t>
            </a:r>
            <a:endParaRPr lang="en-IN" sz="1000" dirty="0">
              <a:solidFill>
                <a:srgbClr val="FF0000"/>
              </a:solidFill>
            </a:endParaRPr>
          </a:p>
        </p:txBody>
      </p:sp>
      <p:sp>
        <p:nvSpPr>
          <p:cNvPr id="7" name="Rectangle: Top Corners One Rounded and One Snipped 6">
            <a:extLst>
              <a:ext uri="{FF2B5EF4-FFF2-40B4-BE49-F238E27FC236}">
                <a16:creationId xmlns:a16="http://schemas.microsoft.com/office/drawing/2014/main" id="{E05E0036-8DBD-420D-9C14-464EB7062CEB}"/>
              </a:ext>
            </a:extLst>
          </p:cNvPr>
          <p:cNvSpPr/>
          <p:nvPr/>
        </p:nvSpPr>
        <p:spPr>
          <a:xfrm>
            <a:off x="4729018" y="861993"/>
            <a:ext cx="2715492" cy="1151534"/>
          </a:xfrm>
          <a:custGeom>
            <a:avLst/>
            <a:gdLst>
              <a:gd name="connsiteX0" fmla="*/ 246308 w 3334327"/>
              <a:gd name="connsiteY0" fmla="*/ 0 h 1477818"/>
              <a:gd name="connsiteX1" fmla="*/ 3088019 w 3334327"/>
              <a:gd name="connsiteY1" fmla="*/ 0 h 1477818"/>
              <a:gd name="connsiteX2" fmla="*/ 3334327 w 3334327"/>
              <a:gd name="connsiteY2" fmla="*/ 246308 h 1477818"/>
              <a:gd name="connsiteX3" fmla="*/ 3334327 w 3334327"/>
              <a:gd name="connsiteY3" fmla="*/ 1477818 h 1477818"/>
              <a:gd name="connsiteX4" fmla="*/ 0 w 3334327"/>
              <a:gd name="connsiteY4" fmla="*/ 1477818 h 1477818"/>
              <a:gd name="connsiteX5" fmla="*/ 0 w 3334327"/>
              <a:gd name="connsiteY5" fmla="*/ 246308 h 1477818"/>
              <a:gd name="connsiteX6" fmla="*/ 246308 w 3334327"/>
              <a:gd name="connsiteY6" fmla="*/ 0 h 1477818"/>
              <a:gd name="connsiteX0" fmla="*/ 246308 w 3365110"/>
              <a:gd name="connsiteY0" fmla="*/ 9236 h 1487054"/>
              <a:gd name="connsiteX1" fmla="*/ 3365110 w 3365110"/>
              <a:gd name="connsiteY1" fmla="*/ 0 h 1487054"/>
              <a:gd name="connsiteX2" fmla="*/ 3334327 w 3365110"/>
              <a:gd name="connsiteY2" fmla="*/ 255544 h 1487054"/>
              <a:gd name="connsiteX3" fmla="*/ 3334327 w 3365110"/>
              <a:gd name="connsiteY3" fmla="*/ 1487054 h 1487054"/>
              <a:gd name="connsiteX4" fmla="*/ 0 w 3365110"/>
              <a:gd name="connsiteY4" fmla="*/ 1487054 h 1487054"/>
              <a:gd name="connsiteX5" fmla="*/ 0 w 3365110"/>
              <a:gd name="connsiteY5" fmla="*/ 255544 h 1487054"/>
              <a:gd name="connsiteX6" fmla="*/ 246308 w 3365110"/>
              <a:gd name="connsiteY6" fmla="*/ 9236 h 1487054"/>
              <a:gd name="connsiteX0" fmla="*/ 246308 w 3334327"/>
              <a:gd name="connsiteY0" fmla="*/ 0 h 1477818"/>
              <a:gd name="connsiteX1" fmla="*/ 3328165 w 3334327"/>
              <a:gd name="connsiteY1" fmla="*/ 9237 h 1477818"/>
              <a:gd name="connsiteX2" fmla="*/ 3334327 w 3334327"/>
              <a:gd name="connsiteY2" fmla="*/ 246308 h 1477818"/>
              <a:gd name="connsiteX3" fmla="*/ 3334327 w 3334327"/>
              <a:gd name="connsiteY3" fmla="*/ 1477818 h 1477818"/>
              <a:gd name="connsiteX4" fmla="*/ 0 w 3334327"/>
              <a:gd name="connsiteY4" fmla="*/ 1477818 h 1477818"/>
              <a:gd name="connsiteX5" fmla="*/ 0 w 3334327"/>
              <a:gd name="connsiteY5" fmla="*/ 246308 h 1477818"/>
              <a:gd name="connsiteX6" fmla="*/ 246308 w 3334327"/>
              <a:gd name="connsiteY6" fmla="*/ 0 h 147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34327" h="1477818">
                <a:moveTo>
                  <a:pt x="246308" y="0"/>
                </a:moveTo>
                <a:lnTo>
                  <a:pt x="3328165" y="9237"/>
                </a:lnTo>
                <a:lnTo>
                  <a:pt x="3334327" y="246308"/>
                </a:lnTo>
                <a:lnTo>
                  <a:pt x="3334327" y="1477818"/>
                </a:lnTo>
                <a:lnTo>
                  <a:pt x="0" y="1477818"/>
                </a:lnTo>
                <a:lnTo>
                  <a:pt x="0" y="246308"/>
                </a:lnTo>
                <a:cubicBezTo>
                  <a:pt x="0" y="110276"/>
                  <a:pt x="110276" y="0"/>
                  <a:pt x="246308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85000"/>
                </a:schemeClr>
              </a:gs>
              <a:gs pos="0">
                <a:schemeClr val="accent5">
                  <a:lumMod val="5000"/>
                  <a:lumOff val="95000"/>
                </a:schemeClr>
              </a:gs>
              <a:gs pos="100000">
                <a:schemeClr val="bg1">
                  <a:lumMod val="85000"/>
                </a:schemeClr>
              </a:gs>
              <a:gs pos="100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effectLst>
            <a:glow rad="50800">
              <a:schemeClr val="bg2">
                <a:lumMod val="5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50" b="1" dirty="0"/>
              <a:t>Create Database:</a:t>
            </a:r>
          </a:p>
          <a:p>
            <a:endParaRPr lang="en-US" sz="1050" dirty="0"/>
          </a:p>
          <a:p>
            <a:r>
              <a:rPr lang="en-US" sz="1050" dirty="0"/>
              <a:t>CREATE DATABASE &lt;Database Name&gt;;</a:t>
            </a:r>
          </a:p>
          <a:p>
            <a:r>
              <a:rPr lang="en-US" sz="1050" dirty="0"/>
              <a:t>GO</a:t>
            </a:r>
          </a:p>
          <a:p>
            <a:endParaRPr lang="en-US" sz="1050" dirty="0"/>
          </a:p>
          <a:p>
            <a:r>
              <a:rPr lang="en-US" sz="1050" dirty="0"/>
              <a:t>USE &lt;Database Name&gt;; </a:t>
            </a:r>
          </a:p>
          <a:p>
            <a:r>
              <a:rPr lang="en-US" sz="1050" dirty="0"/>
              <a:t>GO</a:t>
            </a:r>
            <a:endParaRPr lang="en-IN" sz="1050" dirty="0"/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61B2E276-47BC-434C-B7EC-DA278BFC3C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616457"/>
              </p:ext>
            </p:extLst>
          </p:nvPr>
        </p:nvGraphicFramePr>
        <p:xfrm>
          <a:off x="3932221" y="3155305"/>
          <a:ext cx="28416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" name="Packager Shell Object" showAsIcon="1" r:id="rId5" imgW="2842295" imgH="517956" progId="Package">
                  <p:embed/>
                </p:oleObj>
              </mc:Choice>
              <mc:Fallback>
                <p:oleObj name="Packager Shell Object" showAsIcon="1" r:id="rId5" imgW="2842295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32221" y="3155305"/>
                        <a:ext cx="284162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4B60DD3B-15EE-48A8-9669-AAB76237CA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801560"/>
              </p:ext>
            </p:extLst>
          </p:nvPr>
        </p:nvGraphicFramePr>
        <p:xfrm>
          <a:off x="4060392" y="2365372"/>
          <a:ext cx="8921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" name="Packager Shell Object" showAsIcon="1" r:id="rId7" imgW="891434" imgH="517956" progId="Package">
                  <p:embed/>
                </p:oleObj>
              </mc:Choice>
              <mc:Fallback>
                <p:oleObj name="Packager Shell Object" showAsIcon="1" r:id="rId7" imgW="891434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60392" y="2365372"/>
                        <a:ext cx="89217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D2E4710E-DBE5-42BE-84FC-BFAB09C24C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254247"/>
              </p:ext>
            </p:extLst>
          </p:nvPr>
        </p:nvGraphicFramePr>
        <p:xfrm>
          <a:off x="5522828" y="2385993"/>
          <a:ext cx="8763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" name="Packager Shell Object" showAsIcon="1" r:id="rId9" imgW="876123" imgH="517956" progId="Package">
                  <p:embed/>
                </p:oleObj>
              </mc:Choice>
              <mc:Fallback>
                <p:oleObj name="Packager Shell Object" showAsIcon="1" r:id="rId9" imgW="876123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22828" y="2385993"/>
                        <a:ext cx="876300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DB4328AC-2F53-4476-AEFF-C97626D0CC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263484"/>
              </p:ext>
            </p:extLst>
          </p:nvPr>
        </p:nvGraphicFramePr>
        <p:xfrm>
          <a:off x="6612934" y="2287645"/>
          <a:ext cx="177641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" name="Packager Shell Object" showAsIcon="1" r:id="rId11" imgW="1775637" imgH="517956" progId="Package">
                  <p:embed/>
                </p:oleObj>
              </mc:Choice>
              <mc:Fallback>
                <p:oleObj name="Packager Shell Object" showAsIcon="1" r:id="rId11" imgW="1775637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612934" y="2287645"/>
                        <a:ext cx="1776412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91FE7B38-02C7-43F7-9F9D-52A34DED40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103146"/>
              </p:ext>
            </p:extLst>
          </p:nvPr>
        </p:nvGraphicFramePr>
        <p:xfrm>
          <a:off x="6414799" y="3170237"/>
          <a:ext cx="23320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" name="Packager Shell Object" showAsIcon="1" r:id="rId13" imgW="2331933" imgH="517956" progId="Package">
                  <p:embed/>
                </p:oleObj>
              </mc:Choice>
              <mc:Fallback>
                <p:oleObj name="Packager Shell Object" showAsIcon="1" r:id="rId13" imgW="2331933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14799" y="3170237"/>
                        <a:ext cx="2332037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3747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5EC823D4-7093-4BD9-9409-5E4566835F85}"/>
              </a:ext>
            </a:extLst>
          </p:cNvPr>
          <p:cNvSpPr txBox="1"/>
          <p:nvPr/>
        </p:nvSpPr>
        <p:spPr>
          <a:xfrm>
            <a:off x="181080" y="69947"/>
            <a:ext cx="7956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ADF Pipeline Logic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B4DE30-C3B0-4DAE-95E1-76799AE4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C27E691-17F3-4953-B01A-CFDC628DC781}"/>
              </a:ext>
            </a:extLst>
          </p:cNvPr>
          <p:cNvSpPr txBox="1">
            <a:spLocks/>
          </p:cNvSpPr>
          <p:nvPr/>
        </p:nvSpPr>
        <p:spPr>
          <a:xfrm>
            <a:off x="577272" y="1339574"/>
            <a:ext cx="7763164" cy="2685473"/>
          </a:xfrm>
          <a:prstGeom prst="rect">
            <a:avLst/>
          </a:prstGeom>
        </p:spPr>
        <p:txBody>
          <a:bodyPr/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Lookup activity retrieves table metadata</a:t>
            </a:r>
          </a:p>
          <a:p>
            <a:r>
              <a:rPr lang="en-US" b="1" dirty="0" err="1"/>
              <a:t>ForEach</a:t>
            </a:r>
            <a:r>
              <a:rPr lang="en-US" b="1" dirty="0"/>
              <a:t> loop processes tables dynamically</a:t>
            </a:r>
          </a:p>
          <a:p>
            <a:r>
              <a:rPr lang="en-US" b="1" dirty="0"/>
              <a:t>Condition checks if new records exist</a:t>
            </a:r>
          </a:p>
          <a:p>
            <a:r>
              <a:rPr lang="en-US" b="1" dirty="0"/>
              <a:t>Copy activity loads data to ADLS</a:t>
            </a:r>
          </a:p>
        </p:txBody>
      </p:sp>
    </p:spTree>
    <p:extLst>
      <p:ext uri="{BB962C8B-B14F-4D97-AF65-F5344CB8AC3E}">
        <p14:creationId xmlns:p14="http://schemas.microsoft.com/office/powerpoint/2010/main" val="860971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22FA7E-7B9E-4881-BB60-21A395DAB3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Parent Pipeline Orchestration (Master Pipeline)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B064B7-8648-453B-B48D-71C2DF4C3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1FB541-A353-41D7-A66D-E2BD498E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12" y="1430647"/>
            <a:ext cx="8415405" cy="47512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72B889-DC23-480A-B634-D2F840414015}"/>
              </a:ext>
            </a:extLst>
          </p:cNvPr>
          <p:cNvSpPr txBox="1"/>
          <p:nvPr/>
        </p:nvSpPr>
        <p:spPr>
          <a:xfrm>
            <a:off x="488882" y="830483"/>
            <a:ext cx="7703127" cy="600164"/>
          </a:xfrm>
          <a:prstGeom prst="rect">
            <a:avLst/>
          </a:prstGeom>
          <a:noFill/>
          <a:effectLst>
            <a:glow rad="127000">
              <a:schemeClr val="accent6">
                <a:lumMod val="75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1100" b="1" dirty="0"/>
              <a:t>1.Lookup Activity - </a:t>
            </a:r>
            <a:r>
              <a:rPr lang="en-US" sz="1100" dirty="0"/>
              <a:t>This query extracts metadata, including schema, table name, watermark column, and last processed value, from the ADF watermark table. (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</a:rPr>
              <a:t>SELECT </a:t>
            </a:r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</a:rPr>
              <a:t>TableSchema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</a:rPr>
              <a:t>TableName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</a:rPr>
              <a:t>WatermarkColumn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</a:rPr>
              <a:t>LastLoadValue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</a:rPr>
              <a:t> FROM </a:t>
            </a:r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</a:rPr>
              <a:t>dbo.ADF_Watermark_Table</a:t>
            </a:r>
            <a:r>
              <a:rPr lang="en-US" sz="1100" dirty="0"/>
              <a:t>;</a:t>
            </a:r>
            <a:r>
              <a:rPr lang="en-IN" sz="11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40299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Parent Pipeline Orchestration (Master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114621-61DC-4329-ADA7-1B387345D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40" y="1542272"/>
            <a:ext cx="8322396" cy="44850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82A8DF-507A-4F7C-BB9D-CE1E2BBE5CA0}"/>
              </a:ext>
            </a:extLst>
          </p:cNvPr>
          <p:cNvSpPr txBox="1"/>
          <p:nvPr/>
        </p:nvSpPr>
        <p:spPr>
          <a:xfrm>
            <a:off x="488882" y="942108"/>
            <a:ext cx="77031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2.Foreach Activity - </a:t>
            </a:r>
            <a:r>
              <a:rPr lang="en-US" sz="1100" dirty="0">
                <a:solidFill>
                  <a:srgbClr val="002060"/>
                </a:solidFill>
              </a:rPr>
              <a:t>@activity('LKUP_SQLTABLE_WATRMRK_DW').</a:t>
            </a:r>
            <a:r>
              <a:rPr lang="en-US" sz="1100" dirty="0" err="1">
                <a:solidFill>
                  <a:srgbClr val="002060"/>
                </a:solidFill>
              </a:rPr>
              <a:t>output.value</a:t>
            </a:r>
            <a:endParaRPr lang="en-US" sz="1100" dirty="0">
              <a:solidFill>
                <a:srgbClr val="002060"/>
              </a:solidFill>
            </a:endParaRPr>
          </a:p>
          <a:p>
            <a:r>
              <a:rPr lang="en-US" sz="1100" dirty="0"/>
              <a:t>This expression retrieves the array of records returned by the lookup activity, which is used as input for iteration in the </a:t>
            </a:r>
            <a:r>
              <a:rPr lang="en-US" sz="1100" dirty="0" err="1"/>
              <a:t>ForEach</a:t>
            </a:r>
            <a:r>
              <a:rPr lang="en-US" sz="1100" dirty="0"/>
              <a:t> activity.</a:t>
            </a:r>
            <a:br>
              <a:rPr lang="en-US" sz="1100" dirty="0"/>
            </a:b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140130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Parent Pipeline Orchestration (Master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2A8DF-507A-4F7C-BB9D-CE1E2BBE5CA0}"/>
              </a:ext>
            </a:extLst>
          </p:cNvPr>
          <p:cNvSpPr txBox="1"/>
          <p:nvPr/>
        </p:nvSpPr>
        <p:spPr>
          <a:xfrm>
            <a:off x="488882" y="942108"/>
            <a:ext cx="77031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2.Execute Pipeline - </a:t>
            </a:r>
            <a:r>
              <a:rPr lang="en-US" sz="1100" dirty="0"/>
              <a:t>This pipeline invokes the child pipeline by dynamically passing parameters (@item().</a:t>
            </a:r>
            <a:r>
              <a:rPr lang="en-US" sz="1100" dirty="0" err="1"/>
              <a:t>TableSchema</a:t>
            </a:r>
            <a:r>
              <a:rPr lang="en-US" sz="1100" dirty="0"/>
              <a:t>, @item().</a:t>
            </a:r>
            <a:r>
              <a:rPr lang="en-US" sz="1100" dirty="0" err="1"/>
              <a:t>TableName</a:t>
            </a:r>
            <a:r>
              <a:rPr lang="en-US" sz="1100" dirty="0"/>
              <a:t>, @item().</a:t>
            </a:r>
            <a:r>
              <a:rPr lang="en-US" sz="1100" dirty="0" err="1"/>
              <a:t>WatermarkColumn</a:t>
            </a:r>
            <a:r>
              <a:rPr lang="en-US" sz="1100" dirty="0"/>
              <a:t>, @item().</a:t>
            </a:r>
            <a:r>
              <a:rPr lang="en-US" sz="1100" dirty="0" err="1"/>
              <a:t>LastLoadValue</a:t>
            </a:r>
            <a:r>
              <a:rPr lang="en-US" sz="1100" dirty="0"/>
              <a:t>) for table-wise incremental processing.</a:t>
            </a:r>
            <a:endParaRPr lang="en-IN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9DBF7D-D98E-4F06-A485-6FE542934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061" y="1542272"/>
            <a:ext cx="5286630" cy="45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355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2A8DF-507A-4F7C-BB9D-CE1E2BBE5CA0}"/>
              </a:ext>
            </a:extLst>
          </p:cNvPr>
          <p:cNvSpPr txBox="1"/>
          <p:nvPr/>
        </p:nvSpPr>
        <p:spPr>
          <a:xfrm>
            <a:off x="488882" y="942108"/>
            <a:ext cx="77031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Child Pipeline (Definition):  </a:t>
            </a:r>
            <a:r>
              <a:rPr lang="en-US" sz="1100" dirty="0"/>
              <a:t>Parameters are defined in the child pipeline under the Parameters tab</a:t>
            </a:r>
          </a:p>
          <a:p>
            <a:r>
              <a:rPr lang="en-US" sz="1100" dirty="0"/>
              <a:t> (canvas → click on blank area → Parameters section). </a:t>
            </a:r>
            <a:r>
              <a:rPr lang="en-US" sz="1100" dirty="0" err="1">
                <a:solidFill>
                  <a:srgbClr val="002060"/>
                </a:solidFill>
              </a:rPr>
              <a:t>TableSchema,TableName,WatermarkColumn,LastLoadValue</a:t>
            </a:r>
            <a:endParaRPr lang="en-IN" sz="1100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EBFD32-00CB-4D05-968D-73A69E409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665" y="1451554"/>
            <a:ext cx="4895517" cy="471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978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2A8DF-507A-4F7C-BB9D-CE1E2BBE5CA0}"/>
              </a:ext>
            </a:extLst>
          </p:cNvPr>
          <p:cNvSpPr txBox="1"/>
          <p:nvPr/>
        </p:nvSpPr>
        <p:spPr>
          <a:xfrm>
            <a:off x="5950368" y="1655985"/>
            <a:ext cx="2878741" cy="110799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en-US" sz="1100" b="1" dirty="0"/>
              <a:t>Query: </a:t>
            </a:r>
            <a:r>
              <a:rPr lang="en-US" sz="1100" dirty="0"/>
              <a:t>SELECT MAX(@{pipeline().</a:t>
            </a:r>
            <a:r>
              <a:rPr lang="en-US" sz="1100" dirty="0" err="1"/>
              <a:t>parameters.WatermarkColumn</a:t>
            </a:r>
            <a:r>
              <a:rPr lang="en-US" sz="1100" dirty="0"/>
              <a:t>}) AS </a:t>
            </a:r>
            <a:r>
              <a:rPr lang="en-US" sz="1100" dirty="0" err="1"/>
              <a:t>MaxValue</a:t>
            </a:r>
            <a:endParaRPr lang="en-US" sz="1100" dirty="0"/>
          </a:p>
          <a:p>
            <a:r>
              <a:rPr lang="en-US" sz="1100" dirty="0"/>
              <a:t>FROM @{pipeline().</a:t>
            </a:r>
            <a:r>
              <a:rPr lang="en-US" sz="1100" dirty="0" err="1"/>
              <a:t>parameters.TableSchema</a:t>
            </a:r>
            <a:r>
              <a:rPr lang="en-US" sz="1100" dirty="0"/>
              <a:t>}.@{pipeline().</a:t>
            </a:r>
            <a:r>
              <a:rPr lang="en-US" sz="1100" dirty="0" err="1"/>
              <a:t>parameters.TableName</a:t>
            </a:r>
            <a:r>
              <a:rPr lang="en-US" sz="1100" dirty="0"/>
              <a:t>}</a:t>
            </a:r>
            <a:endParaRPr lang="en-IN" sz="1100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C0A5EB-C16B-4787-90F9-B00AF7946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13" y="1318441"/>
            <a:ext cx="5255923" cy="43554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F7016E-3FAE-4628-9692-398FFB80454A}"/>
              </a:ext>
            </a:extLst>
          </p:cNvPr>
          <p:cNvSpPr txBox="1"/>
          <p:nvPr/>
        </p:nvSpPr>
        <p:spPr>
          <a:xfrm>
            <a:off x="405755" y="805895"/>
            <a:ext cx="77031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1.Lookup </a:t>
            </a:r>
            <a:r>
              <a:rPr lang="en-US" sz="1100" b="1" dirty="0" err="1"/>
              <a:t>Actiivty</a:t>
            </a:r>
            <a:r>
              <a:rPr lang="en-US" sz="1100" b="1" dirty="0"/>
              <a:t>: </a:t>
            </a:r>
            <a:r>
              <a:rPr lang="en-US" sz="1100" dirty="0"/>
              <a:t>Retrieves the maximum value of the watermark column from the source table to identify the latest available data</a:t>
            </a:r>
            <a:endParaRPr lang="en-IN" sz="11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2631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7016E-3FAE-4628-9692-398FFB80454A}"/>
              </a:ext>
            </a:extLst>
          </p:cNvPr>
          <p:cNvSpPr txBox="1"/>
          <p:nvPr/>
        </p:nvSpPr>
        <p:spPr>
          <a:xfrm>
            <a:off x="405755" y="805895"/>
            <a:ext cx="77031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1.Lookup </a:t>
            </a:r>
            <a:r>
              <a:rPr lang="en-US" sz="1100" b="1" dirty="0" err="1"/>
              <a:t>Actiivty</a:t>
            </a:r>
            <a:r>
              <a:rPr lang="en-US" sz="1100" b="1" dirty="0"/>
              <a:t> Source dataset: </a:t>
            </a:r>
            <a:r>
              <a:rPr lang="en-US" sz="1100" dirty="0"/>
              <a:t>SQL Server</a:t>
            </a:r>
            <a:r>
              <a:rPr lang="en-US" sz="1100" b="1" dirty="0"/>
              <a:t> </a:t>
            </a:r>
            <a:r>
              <a:rPr lang="en-US" sz="1100" dirty="0"/>
              <a:t>DS_LKUP_MAX_VALUE Parameter tab add Schema name and table name</a:t>
            </a:r>
            <a:endParaRPr lang="en-IN" sz="1100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907623-7021-445C-ABB1-E996E4602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675" y="1317774"/>
            <a:ext cx="2794988" cy="37222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CC5BBB-AF22-4C19-AEC3-D0C12CF36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19" y="1317774"/>
            <a:ext cx="6118856" cy="463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783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2A8DF-507A-4F7C-BB9D-CE1E2BBE5CA0}"/>
              </a:ext>
            </a:extLst>
          </p:cNvPr>
          <p:cNvSpPr txBox="1"/>
          <p:nvPr/>
        </p:nvSpPr>
        <p:spPr>
          <a:xfrm>
            <a:off x="405755" y="5457604"/>
            <a:ext cx="8267189" cy="43088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en-US" sz="1100" b="1" dirty="0"/>
              <a:t>Expression: </a:t>
            </a:r>
            <a:r>
              <a:rPr lang="en-US" sz="1100" dirty="0"/>
              <a:t>@or(equals(pipeline().</a:t>
            </a:r>
            <a:r>
              <a:rPr lang="en-US" sz="1100" dirty="0" err="1"/>
              <a:t>parameters.LastLoadValue</a:t>
            </a:r>
            <a:r>
              <a:rPr lang="en-US" sz="1100" dirty="0"/>
              <a:t>, null), greater(int(activity('LKUP_MAX_VALUE').</a:t>
            </a:r>
            <a:r>
              <a:rPr lang="en-US" sz="1100" dirty="0" err="1"/>
              <a:t>output.firstRow.MaxValue</a:t>
            </a:r>
            <a:r>
              <a:rPr lang="en-US" sz="1100" dirty="0"/>
              <a:t>), int(pipeline().</a:t>
            </a:r>
            <a:r>
              <a:rPr lang="en-US" sz="1100" dirty="0" err="1"/>
              <a:t>parameters.LastLoadValue</a:t>
            </a:r>
            <a:r>
              <a:rPr lang="en-US" sz="1100" dirty="0"/>
              <a:t>)))</a:t>
            </a:r>
            <a:endParaRPr lang="en-IN" sz="1100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7016E-3FAE-4628-9692-398FFB80454A}"/>
              </a:ext>
            </a:extLst>
          </p:cNvPr>
          <p:cNvSpPr txBox="1"/>
          <p:nvPr/>
        </p:nvSpPr>
        <p:spPr>
          <a:xfrm>
            <a:off x="405755" y="805895"/>
            <a:ext cx="77031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2.IF </a:t>
            </a:r>
            <a:r>
              <a:rPr lang="en-US" sz="1100" b="1" dirty="0" err="1"/>
              <a:t>Actiivty</a:t>
            </a:r>
            <a:r>
              <a:rPr lang="en-US" sz="1100" b="1" dirty="0"/>
              <a:t>: </a:t>
            </a:r>
            <a:r>
              <a:rPr lang="en-US" sz="1100" dirty="0"/>
              <a:t>Checks whether new data exists by comparing the latest watermark value with the last loaded value, triggering the load if conditions are met.</a:t>
            </a:r>
            <a:endParaRPr lang="en-IN" sz="1100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09C83C-4CA4-404E-85E2-7AEBE266E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12" y="1383076"/>
            <a:ext cx="8996220" cy="377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701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2A8DF-507A-4F7C-BB9D-CE1E2BBE5CA0}"/>
              </a:ext>
            </a:extLst>
          </p:cNvPr>
          <p:cNvSpPr txBox="1"/>
          <p:nvPr/>
        </p:nvSpPr>
        <p:spPr>
          <a:xfrm>
            <a:off x="5708189" y="1487052"/>
            <a:ext cx="3247640" cy="240065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Query: </a:t>
            </a:r>
            <a:r>
              <a:rPr lang="en-IN" sz="1000" dirty="0">
                <a:solidFill>
                  <a:srgbClr val="002060"/>
                </a:solidFill>
              </a:rPr>
              <a:t>@</a:t>
            </a:r>
            <a:r>
              <a:rPr lang="en-IN" sz="1000" dirty="0" err="1">
                <a:solidFill>
                  <a:srgbClr val="002060"/>
                </a:solidFill>
              </a:rPr>
              <a:t>concat</a:t>
            </a:r>
            <a:r>
              <a:rPr lang="en-IN" sz="1000" dirty="0">
                <a:solidFill>
                  <a:srgbClr val="002060"/>
                </a:solidFill>
              </a:rPr>
              <a:t>(</a:t>
            </a:r>
          </a:p>
          <a:p>
            <a:r>
              <a:rPr lang="en-IN" sz="1000" dirty="0">
                <a:solidFill>
                  <a:srgbClr val="002060"/>
                </a:solidFill>
              </a:rPr>
              <a:t>    'SELECT * FROM ',</a:t>
            </a:r>
          </a:p>
          <a:p>
            <a:r>
              <a:rPr lang="en-IN" sz="1000" dirty="0">
                <a:solidFill>
                  <a:srgbClr val="002060"/>
                </a:solidFill>
              </a:rPr>
              <a:t>    pipeline().</a:t>
            </a:r>
            <a:r>
              <a:rPr lang="en-IN" sz="1000" dirty="0" err="1">
                <a:solidFill>
                  <a:srgbClr val="002060"/>
                </a:solidFill>
              </a:rPr>
              <a:t>parameters.TableSchema</a:t>
            </a:r>
            <a:r>
              <a:rPr lang="en-IN" sz="1000" dirty="0">
                <a:solidFill>
                  <a:srgbClr val="002060"/>
                </a:solidFill>
              </a:rPr>
              <a:t>, '.', pipeline().</a:t>
            </a:r>
            <a:r>
              <a:rPr lang="en-IN" sz="1000" dirty="0" err="1">
                <a:solidFill>
                  <a:srgbClr val="002060"/>
                </a:solidFill>
              </a:rPr>
              <a:t>parameters.TableName</a:t>
            </a:r>
            <a:r>
              <a:rPr lang="en-IN" sz="1000" dirty="0">
                <a:solidFill>
                  <a:srgbClr val="002060"/>
                </a:solidFill>
              </a:rPr>
              <a:t>,</a:t>
            </a:r>
          </a:p>
          <a:p>
            <a:r>
              <a:rPr lang="en-IN" sz="1000" dirty="0">
                <a:solidFill>
                  <a:srgbClr val="002060"/>
                </a:solidFill>
              </a:rPr>
              <a:t>    if(</a:t>
            </a:r>
          </a:p>
          <a:p>
            <a:r>
              <a:rPr lang="en-IN" sz="1000" dirty="0">
                <a:solidFill>
                  <a:srgbClr val="002060"/>
                </a:solidFill>
              </a:rPr>
              <a:t>        equals(pipeline().</a:t>
            </a:r>
            <a:r>
              <a:rPr lang="en-IN" sz="1000" dirty="0" err="1">
                <a:solidFill>
                  <a:srgbClr val="002060"/>
                </a:solidFill>
              </a:rPr>
              <a:t>parameters.LastLoadValue</a:t>
            </a:r>
            <a:r>
              <a:rPr lang="en-IN" sz="1000" dirty="0">
                <a:solidFill>
                  <a:srgbClr val="002060"/>
                </a:solidFill>
              </a:rPr>
              <a:t>, null),</a:t>
            </a:r>
          </a:p>
          <a:p>
            <a:r>
              <a:rPr lang="en-IN" sz="1000" dirty="0">
                <a:solidFill>
                  <a:srgbClr val="002060"/>
                </a:solidFill>
              </a:rPr>
              <a:t>        '', </a:t>
            </a:r>
          </a:p>
          <a:p>
            <a:r>
              <a:rPr lang="en-IN" sz="1000" dirty="0">
                <a:solidFill>
                  <a:srgbClr val="002060"/>
                </a:solidFill>
              </a:rPr>
              <a:t>        </a:t>
            </a:r>
            <a:r>
              <a:rPr lang="en-IN" sz="1000" dirty="0" err="1">
                <a:solidFill>
                  <a:srgbClr val="002060"/>
                </a:solidFill>
              </a:rPr>
              <a:t>concat</a:t>
            </a:r>
            <a:r>
              <a:rPr lang="en-IN" sz="1000" dirty="0">
                <a:solidFill>
                  <a:srgbClr val="002060"/>
                </a:solidFill>
              </a:rPr>
              <a:t>(</a:t>
            </a:r>
          </a:p>
          <a:p>
            <a:r>
              <a:rPr lang="en-IN" sz="1000" dirty="0">
                <a:solidFill>
                  <a:srgbClr val="002060"/>
                </a:solidFill>
              </a:rPr>
              <a:t>            ' WHERE ', pipeline().</a:t>
            </a:r>
            <a:r>
              <a:rPr lang="en-IN" sz="1000" dirty="0" err="1">
                <a:solidFill>
                  <a:srgbClr val="002060"/>
                </a:solidFill>
              </a:rPr>
              <a:t>parameters.WatermarkColumn</a:t>
            </a:r>
            <a:r>
              <a:rPr lang="en-IN" sz="1000" dirty="0">
                <a:solidFill>
                  <a:srgbClr val="002060"/>
                </a:solidFill>
              </a:rPr>
              <a:t>,</a:t>
            </a:r>
          </a:p>
          <a:p>
            <a:r>
              <a:rPr lang="en-IN" sz="1000" dirty="0">
                <a:solidFill>
                  <a:srgbClr val="002060"/>
                </a:solidFill>
              </a:rPr>
              <a:t>            ' &gt; ''', pipeline().</a:t>
            </a:r>
            <a:r>
              <a:rPr lang="en-IN" sz="1000" dirty="0" err="1">
                <a:solidFill>
                  <a:srgbClr val="002060"/>
                </a:solidFill>
              </a:rPr>
              <a:t>parameters.LastLoadValue</a:t>
            </a:r>
            <a:r>
              <a:rPr lang="en-IN" sz="1000" dirty="0">
                <a:solidFill>
                  <a:srgbClr val="002060"/>
                </a:solidFill>
              </a:rPr>
              <a:t>, ''''</a:t>
            </a:r>
          </a:p>
          <a:p>
            <a:r>
              <a:rPr lang="en-IN" sz="1000" dirty="0">
                <a:solidFill>
                  <a:srgbClr val="002060"/>
                </a:solidFill>
              </a:rPr>
              <a:t>        )</a:t>
            </a:r>
          </a:p>
          <a:p>
            <a:r>
              <a:rPr lang="en-IN" sz="1000" dirty="0">
                <a:solidFill>
                  <a:srgbClr val="002060"/>
                </a:solidFill>
              </a:rPr>
              <a:t>    )</a:t>
            </a:r>
          </a:p>
          <a:p>
            <a:r>
              <a:rPr lang="en-IN" sz="1000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7016E-3FAE-4628-9692-398FFB80454A}"/>
              </a:ext>
            </a:extLst>
          </p:cNvPr>
          <p:cNvSpPr txBox="1"/>
          <p:nvPr/>
        </p:nvSpPr>
        <p:spPr>
          <a:xfrm>
            <a:off x="405755" y="805895"/>
            <a:ext cx="80354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2.IF </a:t>
            </a:r>
            <a:r>
              <a:rPr lang="en-US" sz="1100" b="1" dirty="0" err="1"/>
              <a:t>Actiivty</a:t>
            </a:r>
            <a:r>
              <a:rPr lang="en-US" sz="1100" b="1" dirty="0"/>
              <a:t> TRUE case-</a:t>
            </a:r>
            <a:r>
              <a:rPr lang="en-US" sz="1100" b="1" dirty="0" err="1"/>
              <a:t>CopyActivity</a:t>
            </a:r>
            <a:r>
              <a:rPr lang="en-US" sz="1100" b="1" dirty="0"/>
              <a:t>  </a:t>
            </a:r>
            <a:r>
              <a:rPr lang="en-US" sz="1100" b="1" dirty="0" err="1"/>
              <a:t>Source:</a:t>
            </a:r>
            <a:r>
              <a:rPr lang="en-US" sz="1100" dirty="0" err="1"/>
              <a:t>Copies</a:t>
            </a:r>
            <a:r>
              <a:rPr lang="en-US" sz="1100" dirty="0"/>
              <a:t> data from the source table to the target in Parquet format, performing a full load if no previous watermark exists or an incremental load by filtering records greater than the last loaded value.</a:t>
            </a:r>
            <a:endParaRPr lang="en-IN" sz="1100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3BCED8-41C8-408D-98F9-6175EE633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71" y="1405615"/>
            <a:ext cx="5421862" cy="454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427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7016E-3FAE-4628-9692-398FFB80454A}"/>
              </a:ext>
            </a:extLst>
          </p:cNvPr>
          <p:cNvSpPr txBox="1"/>
          <p:nvPr/>
        </p:nvSpPr>
        <p:spPr>
          <a:xfrm>
            <a:off x="405755" y="805895"/>
            <a:ext cx="8035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2.1Copy Activity Dataset(source): </a:t>
            </a:r>
            <a:r>
              <a:rPr lang="en-US" sz="1100" dirty="0"/>
              <a:t>SQL Server DS_LKUP_MAX_VALUE.</a:t>
            </a:r>
            <a:endParaRPr lang="en-IN" sz="1100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0F7DD2-F252-4AB2-9F68-21B92D34A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39" y="1317775"/>
            <a:ext cx="8576297" cy="454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19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2A8DF-507A-4F7C-BB9D-CE1E2BBE5CA0}"/>
              </a:ext>
            </a:extLst>
          </p:cNvPr>
          <p:cNvSpPr txBox="1"/>
          <p:nvPr/>
        </p:nvSpPr>
        <p:spPr>
          <a:xfrm>
            <a:off x="5634569" y="1566701"/>
            <a:ext cx="2365585" cy="40011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Dataset Properties:</a:t>
            </a:r>
            <a:endParaRPr lang="en-IN" sz="1000" dirty="0">
              <a:solidFill>
                <a:srgbClr val="002060"/>
              </a:solidFill>
            </a:endParaRPr>
          </a:p>
          <a:p>
            <a:r>
              <a:rPr lang="en-IN" sz="1000" dirty="0">
                <a:solidFill>
                  <a:srgbClr val="002060"/>
                </a:solidFill>
              </a:rPr>
              <a:t>@pipeline().</a:t>
            </a:r>
            <a:r>
              <a:rPr lang="en-IN" sz="1000" dirty="0" err="1">
                <a:solidFill>
                  <a:srgbClr val="002060"/>
                </a:solidFill>
              </a:rPr>
              <a:t>parameters.TableName</a:t>
            </a:r>
            <a:endParaRPr lang="en-IN" sz="1000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7016E-3FAE-4628-9692-398FFB80454A}"/>
              </a:ext>
            </a:extLst>
          </p:cNvPr>
          <p:cNvSpPr txBox="1"/>
          <p:nvPr/>
        </p:nvSpPr>
        <p:spPr>
          <a:xfrm>
            <a:off x="405755" y="805895"/>
            <a:ext cx="80354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2.IF </a:t>
            </a:r>
            <a:r>
              <a:rPr lang="en-US" sz="1100" b="1" dirty="0" err="1"/>
              <a:t>Actiivty</a:t>
            </a:r>
            <a:r>
              <a:rPr lang="en-US" sz="1100" b="1" dirty="0"/>
              <a:t> TRUE case-</a:t>
            </a:r>
            <a:r>
              <a:rPr lang="en-US" sz="1100" b="1" dirty="0" err="1"/>
              <a:t>CopyActivity</a:t>
            </a:r>
            <a:r>
              <a:rPr lang="en-US" sz="1100" b="1" dirty="0"/>
              <a:t> : SINK </a:t>
            </a:r>
            <a:r>
              <a:rPr lang="en-US" sz="1100" dirty="0"/>
              <a:t>A pipeline that loads table data into ADLS as Parquet files with dynamic naming and date-partitioned folder structure..</a:t>
            </a:r>
            <a:endParaRPr lang="en-IN" sz="1100" dirty="0">
              <a:solidFill>
                <a:srgbClr val="00206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262B33-3F34-4079-AE5B-23EC16AA9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82" y="2647968"/>
            <a:ext cx="3833523" cy="32556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EE11C8-720B-47A9-94D6-134604302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94" y="1236781"/>
            <a:ext cx="5110847" cy="481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824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7016E-3FAE-4628-9692-398FFB80454A}"/>
              </a:ext>
            </a:extLst>
          </p:cNvPr>
          <p:cNvSpPr txBox="1"/>
          <p:nvPr/>
        </p:nvSpPr>
        <p:spPr>
          <a:xfrm>
            <a:off x="405755" y="819349"/>
            <a:ext cx="8035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2.1Copy Activity Dataset (sink): </a:t>
            </a:r>
            <a:r>
              <a:rPr lang="en-US" sz="1100" dirty="0"/>
              <a:t>SQL Server DS_LKUP_MAX_VALUE.</a:t>
            </a:r>
            <a:endParaRPr lang="en-IN" sz="1100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4A030E-ECB8-4410-A758-99C05CAE5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12" y="1160756"/>
            <a:ext cx="8035427" cy="43178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FD4290-3867-4965-9083-A50B51197484}"/>
              </a:ext>
            </a:extLst>
          </p:cNvPr>
          <p:cNvSpPr txBox="1"/>
          <p:nvPr/>
        </p:nvSpPr>
        <p:spPr>
          <a:xfrm>
            <a:off x="835142" y="5645881"/>
            <a:ext cx="6674023" cy="41549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Expression: </a:t>
            </a:r>
            <a:r>
              <a:rPr lang="en-IN" sz="1000" dirty="0">
                <a:solidFill>
                  <a:srgbClr val="002060"/>
                </a:solidFill>
              </a:rPr>
              <a:t>@</a:t>
            </a:r>
            <a:r>
              <a:rPr lang="en-IN" sz="1000" dirty="0" err="1">
                <a:solidFill>
                  <a:srgbClr val="002060"/>
                </a:solidFill>
              </a:rPr>
              <a:t>concat</a:t>
            </a:r>
            <a:r>
              <a:rPr lang="en-IN" sz="1000" dirty="0">
                <a:solidFill>
                  <a:srgbClr val="002060"/>
                </a:solidFill>
              </a:rPr>
              <a:t>(dataset().</a:t>
            </a:r>
            <a:r>
              <a:rPr lang="en-IN" sz="1000" dirty="0" err="1">
                <a:solidFill>
                  <a:srgbClr val="002060"/>
                </a:solidFill>
              </a:rPr>
              <a:t>Table_Name</a:t>
            </a:r>
            <a:r>
              <a:rPr lang="en-IN" sz="1000" dirty="0">
                <a:solidFill>
                  <a:srgbClr val="002060"/>
                </a:solidFill>
              </a:rPr>
              <a:t>,'/',</a:t>
            </a:r>
            <a:r>
              <a:rPr lang="en-IN" sz="1000" dirty="0" err="1">
                <a:solidFill>
                  <a:srgbClr val="002060"/>
                </a:solidFill>
              </a:rPr>
              <a:t>formatDateTime</a:t>
            </a:r>
            <a:r>
              <a:rPr lang="en-IN" sz="1000" dirty="0">
                <a:solidFill>
                  <a:srgbClr val="002060"/>
                </a:solidFill>
              </a:rPr>
              <a:t>(</a:t>
            </a:r>
            <a:r>
              <a:rPr lang="en-IN" sz="1000" dirty="0" err="1">
                <a:solidFill>
                  <a:srgbClr val="002060"/>
                </a:solidFill>
              </a:rPr>
              <a:t>utcNow</a:t>
            </a:r>
            <a:r>
              <a:rPr lang="en-IN" sz="1000" dirty="0">
                <a:solidFill>
                  <a:srgbClr val="002060"/>
                </a:solidFill>
              </a:rPr>
              <a:t>(),'</a:t>
            </a:r>
            <a:r>
              <a:rPr lang="en-IN" sz="1000" dirty="0" err="1">
                <a:solidFill>
                  <a:srgbClr val="002060"/>
                </a:solidFill>
              </a:rPr>
              <a:t>yyyy</a:t>
            </a:r>
            <a:r>
              <a:rPr lang="en-IN" sz="1000" dirty="0">
                <a:solidFill>
                  <a:srgbClr val="002060"/>
                </a:solidFill>
              </a:rPr>
              <a:t>/MM/dd’))</a:t>
            </a:r>
          </a:p>
          <a:p>
            <a:endParaRPr lang="en-US" sz="100" dirty="0">
              <a:solidFill>
                <a:srgbClr val="002060"/>
              </a:solidFill>
            </a:endParaRPr>
          </a:p>
          <a:p>
            <a:r>
              <a:rPr lang="en-US" sz="1000" b="1" dirty="0"/>
              <a:t>Expression:</a:t>
            </a:r>
            <a:r>
              <a:rPr lang="en-IN" sz="1000" dirty="0">
                <a:solidFill>
                  <a:srgbClr val="002060"/>
                </a:solidFill>
              </a:rPr>
              <a:t>@</a:t>
            </a:r>
            <a:r>
              <a:rPr lang="en-IN" sz="1000" dirty="0" err="1">
                <a:solidFill>
                  <a:srgbClr val="002060"/>
                </a:solidFill>
              </a:rPr>
              <a:t>concat</a:t>
            </a:r>
            <a:r>
              <a:rPr lang="en-IN" sz="1000" dirty="0">
                <a:solidFill>
                  <a:srgbClr val="002060"/>
                </a:solidFill>
              </a:rPr>
              <a:t>(dataset().Table_Name,'_',</a:t>
            </a:r>
            <a:r>
              <a:rPr lang="en-IN" sz="1000" dirty="0" err="1">
                <a:solidFill>
                  <a:srgbClr val="002060"/>
                </a:solidFill>
              </a:rPr>
              <a:t>formatDateTime</a:t>
            </a:r>
            <a:r>
              <a:rPr lang="en-IN" sz="1000" dirty="0">
                <a:solidFill>
                  <a:srgbClr val="002060"/>
                </a:solidFill>
              </a:rPr>
              <a:t>(</a:t>
            </a:r>
            <a:r>
              <a:rPr lang="en-IN" sz="1000" dirty="0" err="1">
                <a:solidFill>
                  <a:srgbClr val="002060"/>
                </a:solidFill>
              </a:rPr>
              <a:t>utcNow</a:t>
            </a:r>
            <a:r>
              <a:rPr lang="en-IN" sz="1000" dirty="0">
                <a:solidFill>
                  <a:srgbClr val="002060"/>
                </a:solidFill>
              </a:rPr>
              <a:t>(),'</a:t>
            </a:r>
            <a:r>
              <a:rPr lang="en-IN" sz="1000" dirty="0" err="1">
                <a:solidFill>
                  <a:srgbClr val="002060"/>
                </a:solidFill>
              </a:rPr>
              <a:t>yyyyMMddHHmmss</a:t>
            </a:r>
            <a:r>
              <a:rPr lang="en-IN" sz="1000" dirty="0">
                <a:solidFill>
                  <a:srgbClr val="002060"/>
                </a:solidFill>
              </a:rPr>
              <a:t>'),'.parquet')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660A57-E505-419B-97EC-530218C4362B}"/>
              </a:ext>
            </a:extLst>
          </p:cNvPr>
          <p:cNvSpPr/>
          <p:nvPr/>
        </p:nvSpPr>
        <p:spPr>
          <a:xfrm>
            <a:off x="490971" y="4109574"/>
            <a:ext cx="1548822" cy="246221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rPr lang="en-IN" sz="1000" dirty="0"/>
              <a:t>File System (Container)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6541F1-F446-4339-8FBA-89D44E6A1F47}"/>
              </a:ext>
            </a:extLst>
          </p:cNvPr>
          <p:cNvSpPr/>
          <p:nvPr/>
        </p:nvSpPr>
        <p:spPr>
          <a:xfrm>
            <a:off x="2571024" y="4109574"/>
            <a:ext cx="867545" cy="246221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rPr lang="en-IN" sz="1000" dirty="0"/>
              <a:t>Folder Path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526BDC-978B-4E47-84BC-E3D99192B960}"/>
              </a:ext>
            </a:extLst>
          </p:cNvPr>
          <p:cNvSpPr/>
          <p:nvPr/>
        </p:nvSpPr>
        <p:spPr>
          <a:xfrm>
            <a:off x="4172153" y="4109574"/>
            <a:ext cx="777777" cy="246221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rPr lang="en-IN" sz="1000" dirty="0"/>
              <a:t>File Name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3FD80E-A101-4D46-A74F-CCB3601F04F3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265382" y="3504444"/>
            <a:ext cx="92364" cy="6051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0533CB0-DD51-45E4-ACB5-1DC899E20029}"/>
              </a:ext>
            </a:extLst>
          </p:cNvPr>
          <p:cNvCxnSpPr>
            <a:cxnSpLocks/>
          </p:cNvCxnSpPr>
          <p:nvPr/>
        </p:nvCxnSpPr>
        <p:spPr>
          <a:xfrm flipV="1">
            <a:off x="3208053" y="3549605"/>
            <a:ext cx="0" cy="6051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E74C9F0-BF9A-40F2-9BB6-C21881FF4506}"/>
              </a:ext>
            </a:extLst>
          </p:cNvPr>
          <p:cNvCxnSpPr>
            <a:cxnSpLocks/>
          </p:cNvCxnSpPr>
          <p:nvPr/>
        </p:nvCxnSpPr>
        <p:spPr>
          <a:xfrm flipV="1">
            <a:off x="4561041" y="3531740"/>
            <a:ext cx="0" cy="5778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257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7016E-3FAE-4628-9692-398FFB80454A}"/>
              </a:ext>
            </a:extLst>
          </p:cNvPr>
          <p:cNvSpPr txBox="1"/>
          <p:nvPr/>
        </p:nvSpPr>
        <p:spPr>
          <a:xfrm>
            <a:off x="405755" y="805895"/>
            <a:ext cx="8035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2.2.Foreach Activity: </a:t>
            </a:r>
            <a:r>
              <a:rPr lang="en-US" sz="1100" dirty="0"/>
              <a:t>Triggers a child pipeline with parameters to perform downstream processing</a:t>
            </a:r>
            <a:endParaRPr lang="en-IN" sz="11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7A6B0F-AB4C-4872-A1C5-249A15FD110C}"/>
              </a:ext>
            </a:extLst>
          </p:cNvPr>
          <p:cNvSpPr/>
          <p:nvPr/>
        </p:nvSpPr>
        <p:spPr>
          <a:xfrm>
            <a:off x="2286000" y="310583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5D4A8-0671-4C01-9DD4-C2C2661DC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55" y="1476455"/>
            <a:ext cx="6779491" cy="390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60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7016E-3FAE-4628-9692-398FFB80454A}"/>
              </a:ext>
            </a:extLst>
          </p:cNvPr>
          <p:cNvSpPr txBox="1"/>
          <p:nvPr/>
        </p:nvSpPr>
        <p:spPr>
          <a:xfrm>
            <a:off x="405755" y="805895"/>
            <a:ext cx="8035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2.2.Foreach Activity: </a:t>
            </a:r>
            <a:r>
              <a:rPr lang="en-US" sz="1100" dirty="0"/>
              <a:t>Triggers a child pipeline with parameters to perform downstream processing</a:t>
            </a:r>
            <a:endParaRPr lang="en-IN" sz="11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7A6B0F-AB4C-4872-A1C5-249A15FD110C}"/>
              </a:ext>
            </a:extLst>
          </p:cNvPr>
          <p:cNvSpPr/>
          <p:nvPr/>
        </p:nvSpPr>
        <p:spPr>
          <a:xfrm>
            <a:off x="2286000" y="310583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AD9B4B-FC35-4E8A-9F3F-801504FCE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13" y="1317775"/>
            <a:ext cx="8458374" cy="432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459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7016E-3FAE-4628-9692-398FFB80454A}"/>
              </a:ext>
            </a:extLst>
          </p:cNvPr>
          <p:cNvSpPr txBox="1"/>
          <p:nvPr/>
        </p:nvSpPr>
        <p:spPr>
          <a:xfrm>
            <a:off x="405755" y="805895"/>
            <a:ext cx="80354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Store Procedure</a:t>
            </a:r>
            <a:r>
              <a:rPr lang="en-US" sz="1100" b="1" i="1" dirty="0"/>
              <a:t>: </a:t>
            </a:r>
            <a:r>
              <a:rPr lang="en-US" sz="1100" dirty="0"/>
              <a:t>Executes a stored procedure to update the watermark value in the control table using the provided table schema, table name, and watermark column</a:t>
            </a:r>
            <a:endParaRPr lang="en-IN" sz="11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7A6B0F-AB4C-4872-A1C5-249A15FD110C}"/>
              </a:ext>
            </a:extLst>
          </p:cNvPr>
          <p:cNvSpPr/>
          <p:nvPr/>
        </p:nvSpPr>
        <p:spPr>
          <a:xfrm>
            <a:off x="2286000" y="310583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835BF9-7808-435A-8DB0-B20C3B32B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13" y="1368744"/>
            <a:ext cx="3867005" cy="2661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1B012E-6D2E-43EB-864E-8BE87B601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325" y="1337306"/>
            <a:ext cx="4572000" cy="413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91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B6A8E6-3BA7-40A2-A66A-74353BDCAC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Key Takeaways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9905FB-13F5-4332-B5A6-539C6A321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00A06C-3B5E-4FD8-8065-9EBDFBA51E07}"/>
              </a:ext>
            </a:extLst>
          </p:cNvPr>
          <p:cNvSpPr/>
          <p:nvPr/>
        </p:nvSpPr>
        <p:spPr>
          <a:xfrm>
            <a:off x="314035" y="1228435"/>
            <a:ext cx="830349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solution implements a scalable and efficient incremental data loading framework using watermark logic. It ensures optimized data movement, reduces processing time, and maintains data consistency through dynamic pipeline orchestration and automated watermark updates</a:t>
            </a:r>
            <a:endParaRPr lang="en-IN" sz="24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2625CC-53B9-4681-9287-0ED60133E10F}"/>
              </a:ext>
            </a:extLst>
          </p:cNvPr>
          <p:cNvSpPr/>
          <p:nvPr/>
        </p:nvSpPr>
        <p:spPr>
          <a:xfrm>
            <a:off x="1620981" y="4460938"/>
            <a:ext cx="63592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Built an end-to-end data engineering pipeline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Implemented metadata-driven ingestion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Used incremental loading for efficiency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Designed scalable cloud architecture</a:t>
            </a:r>
          </a:p>
        </p:txBody>
      </p:sp>
    </p:spTree>
    <p:extLst>
      <p:ext uri="{BB962C8B-B14F-4D97-AF65-F5344CB8AC3E}">
        <p14:creationId xmlns:p14="http://schemas.microsoft.com/office/powerpoint/2010/main" val="1700719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3088</TotalTime>
  <Words>1068</Words>
  <Application>Microsoft Office PowerPoint</Application>
  <PresentationFormat>On-screen Show (4:3)</PresentationFormat>
  <Paragraphs>129</Paragraphs>
  <Slides>21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Bahnschrift SemiBold</vt:lpstr>
      <vt:lpstr>Calibri</vt:lpstr>
      <vt:lpstr>Calibri Light</vt:lpstr>
      <vt:lpstr>Open Sans</vt:lpstr>
      <vt:lpstr>Office Theme</vt:lpstr>
      <vt:lpstr>Custom Design</vt:lpstr>
      <vt:lpstr>Packager Shell Object</vt:lpstr>
      <vt:lpstr>Package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High-Level Data Integration Architecture</dc:title>
  <dc:subject/>
  <dc:creator>AMMUKUTTY</dc:creator>
  <cp:keywords/>
  <dc:description>generated using python-pptx</dc:description>
  <cp:lastModifiedBy>Ammukutty</cp:lastModifiedBy>
  <cp:revision>193</cp:revision>
  <dcterms:created xsi:type="dcterms:W3CDTF">2013-01-27T09:14:16Z</dcterms:created>
  <dcterms:modified xsi:type="dcterms:W3CDTF">2026-03-19T06:12:05Z</dcterms:modified>
  <cp:category/>
</cp:coreProperties>
</file>